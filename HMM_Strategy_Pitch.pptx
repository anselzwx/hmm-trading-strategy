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2" r:id="rId17"/>
    <p:sldId id="273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03" d="100"/>
          <a:sy n="103" d="100"/>
        </p:scale>
        <p:origin x="200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6200" cy="50292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D740"/>
                </a:solidFill>
                <a:latin typeface="Calibri"/>
              </a:rPr>
              <a:t>HMM Regime-Based
Trading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icrosoft YaHei"/>
              </a:rPr>
              <a:t>基于隐马尔可夫模型的多资产量化交易系统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4572000" cy="254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4B4"/>
                </a:solidFill>
                <a:latin typeface="Calibri"/>
              </a:rPr>
              <a:t>LILYN AI Quant Strategy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Why Traditional Investing Fails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传统投资的局限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Markets shift between regimes — bull, bear, crash. Static strategies can't adapt.
    市场在不同状态间切换，静态策略无法适应</a:t>
            </a:r>
          </a:p>
          <a:p>
            <a:pPr algn="l">
              <a:spcBef>
                <a:spcPts val="18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Buy &amp; Hold suffers 30-50% drawdowns that take years to recover
    被动持有面临30-50%回撤，需数年恢复</a:t>
            </a:r>
          </a:p>
          <a:p>
            <a:pPr algn="l">
              <a:spcBef>
                <a:spcPts val="18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Human emotion drives poor timing decisions
    人类情绪导致错误的择时决策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HMM Regime Detection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隐马尔可夫模型状态识别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Gaussian Hidden Markov Model identifies 7 distinct market regimes
    高斯HMM识别7种市场状态</a:t>
            </a:r>
          </a:p>
          <a:p>
            <a:pPr algn="l">
              <a:spcBef>
                <a:spcPts val="18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Walk-Forward validation ensures no look-ahead bias
    滚动验证消除未来函数</a:t>
            </a:r>
          </a:p>
          <a:p>
            <a:pPr algn="l">
              <a:spcBef>
                <a:spcPts val="18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14-signal confirmation system filters false positives
    14信号确认系统过滤假信号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System Architecture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51760" cy="3474720"/>
          </a:xfrm>
          <a:prstGeom prst="rect">
            <a:avLst/>
          </a:prstGeom>
          <a:solidFill>
            <a:srgbClr val="161923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Data Ingestion
数据摄取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6392" y="338328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D740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49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4B4"/>
                </a:solidFill>
                <a:latin typeface="Calibri"/>
              </a:rPr>
              <a:t>Daily OHLCV via Yahoo Finance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651760" cy="3474720"/>
          </a:xfrm>
          <a:prstGeom prst="rect">
            <a:avLst/>
          </a:prstGeom>
          <a:solidFill>
            <a:srgbClr val="161923"/>
          </a:solidFill>
          <a:ln w="254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D74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14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HMM State Detection
状态识别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338328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D740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749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4B4"/>
                </a:solidFill>
                <a:latin typeface="Calibri"/>
              </a:rPr>
              <a:t>7-state Gaussian HMM Walk-Forward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651760" cy="3474720"/>
          </a:xfrm>
          <a:prstGeom prst="rect">
            <a:avLst/>
          </a:prstGeom>
          <a:solidFill>
            <a:srgbClr val="16192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E676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14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Signal Confirmation
信号确认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338328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D740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4B4"/>
                </a:solidFill>
                <a:latin typeface="Calibri"/>
              </a:rPr>
              <a:t>14 Technical Indicators Voting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828800"/>
            <a:ext cx="2651760" cy="3474720"/>
          </a:xfrm>
          <a:prstGeom prst="rect">
            <a:avLst/>
          </a:prstGeom>
          <a:solidFill>
            <a:srgbClr val="161923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78BFA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514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Execution &amp; Risk
执行与风控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749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4B4"/>
                </a:solidFill>
                <a:latin typeface="Calibri"/>
              </a:rPr>
              <a:t>Stop-Loss + Position Sizing + Email 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Multi-Asset Coverage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多资产覆盖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3474720" cy="3291840"/>
          </a:xfrm>
          <a:prstGeom prst="rect">
            <a:avLst/>
          </a:prstGeom>
          <a:solidFill>
            <a:srgbClr val="161923"/>
          </a:solidFill>
          <a:ln w="254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474720" cy="635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40"/>
                </a:solidFill>
                <a:latin typeface="Calibri"/>
              </a:rPr>
              <a:t>Gold Futures  GC=F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黄金期货
全球避险核心资产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474720" cy="3291840"/>
          </a:xfrm>
          <a:prstGeom prst="rect">
            <a:avLst/>
          </a:prstGeom>
          <a:solidFill>
            <a:srgbClr val="161923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474720" cy="635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B4B4"/>
                </a:solidFill>
                <a:latin typeface="Calibri"/>
              </a:rPr>
              <a:t>Silver Futures  SI=F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白银期货
工业+贵金属双重属性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920240"/>
            <a:ext cx="3474720" cy="3291840"/>
          </a:xfrm>
          <a:prstGeom prst="rect">
            <a:avLst/>
          </a:prstGeom>
          <a:solidFill>
            <a:srgbClr val="161923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920240"/>
            <a:ext cx="3474720" cy="635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194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Calibri"/>
              </a:rPr>
              <a:t>Apple Inc.  AAPL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108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科技龙头
流动性最佳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5 /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D740"/>
                </a:solidFill>
              </a:rPr>
              <a:t>NVIDIA Corp.  NVDA</a:t>
            </a:r>
          </a:p>
          <a:p>
            <a:r>
              <a:rPr sz="1000">
                <a:solidFill>
                  <a:srgbClr val="E2E8F0"/>
                </a:solidFill>
              </a:rPr>
              <a:t>英伟达</a:t>
            </a:r>
          </a:p>
          <a:p>
            <a:r>
              <a:rPr sz="900">
                <a:solidFill>
                  <a:srgbClr val="64748B"/>
                </a:solidFill>
              </a:rPr>
              <a:t>AI芯片龙头</a:t>
            </a:r>
            <a:br/>
            <a:r>
              <a:t>高成长科技资产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D740"/>
                </a:solidFill>
              </a:rPr>
              <a:t>Meta Platforms  META</a:t>
            </a:r>
          </a:p>
          <a:p>
            <a:r>
              <a:rPr sz="1000">
                <a:solidFill>
                  <a:srgbClr val="E2E8F0"/>
                </a:solidFill>
              </a:rPr>
              <a:t>元宇宙/社交龙头</a:t>
            </a:r>
          </a:p>
          <a:p>
            <a:r>
              <a:rPr sz="900">
                <a:solidFill>
                  <a:srgbClr val="64748B"/>
                </a:solidFill>
              </a:rPr>
              <a:t>广告+AI双引擎</a:t>
            </a:r>
            <a:br/>
            <a:r>
              <a:t>高流动性成长股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Gold Strategy Performance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黄金策略表现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D740"/>
                </a:solidFill>
                <a:latin typeface="Calibri"/>
              </a:rPr>
              <a:t>+4,594%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Total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D740"/>
                </a:solidFill>
                <a:latin typeface="Calibri"/>
              </a:rPr>
              <a:t>43.5%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Annual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D740"/>
                </a:solidFill>
                <a:latin typeface="Calibri"/>
              </a:rPr>
              <a:t>1.35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Sharpe 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27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7967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-9.9%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967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Max Drawdown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6495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7935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9.91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7935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Sortino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6463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7903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4.38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7903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Calmar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6431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7871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63.6%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7871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Win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6399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7839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4.33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7839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Profit Factor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56367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47807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47807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Trades (10Y)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Calibri"/>
              </a:rPr>
              <a:t>vs Buy &amp; Hold: +331%  |  10-year backtest 2016–2026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Silver Strategy Performance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白银策略表现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B4B4B4"/>
                </a:solidFill>
                <a:latin typeface="Calibri"/>
              </a:rPr>
              <a:t>+925%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Total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B4B4B4"/>
                </a:solidFill>
                <a:latin typeface="Calibri"/>
              </a:rPr>
              <a:t>24.4%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Annual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B4B4B4"/>
                </a:solidFill>
                <a:latin typeface="Calibri"/>
              </a:rPr>
              <a:t>0.96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Sharpe 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27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7967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-14.5%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967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Max Drawdown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6495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7935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4.45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7935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Sortino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6463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7903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1.68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7903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Calmar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6431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7871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50.0%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7871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Win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6399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17839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3.16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7839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Profit Factor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56367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47807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+444%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47807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vs B&amp;H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Calibri"/>
              </a:rPr>
              <a:t>vs Buy &amp; Hold: +444%  |  10-year backtest 2016–2026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Apple Strategy Performance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苹果策略表现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+189%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Total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10.9%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Annual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0.97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Sharpe 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1479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2919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-16.9%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2919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Max Drawdown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1447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2887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62.9%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2887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Win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1415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02855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3.75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2855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Profit Factor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Calibri"/>
              </a:rPr>
              <a:t>AAPL B&amp;H: +1004%  |  Strategy focuses on risk control, not trend-chasing  /  策略侧重风控而非追涨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Risk Control Framework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风险控制框架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651760" cy="3291840"/>
          </a:xfrm>
          <a:prstGeom prst="rect">
            <a:avLst/>
          </a:prstGeom>
          <a:solidFill>
            <a:srgbClr val="161923"/>
          </a:solidFill>
          <a:ln w="254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651760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40"/>
                </a:solidFill>
                <a:latin typeface="Microsoft YaHei"/>
              </a:rPr>
              <a:t>Hard Stop-Loss
硬止损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4B4"/>
                </a:solidFill>
                <a:latin typeface="Calibri"/>
              </a:rPr>
              <a:t>Gold/Silver −8%  |  AAPL −6%
Triggered immediately on breach
触价即出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737360"/>
            <a:ext cx="2651760" cy="3291840"/>
          </a:xfrm>
          <a:prstGeom prst="rect">
            <a:avLst/>
          </a:prstGeom>
          <a:solidFill>
            <a:srgbClr val="16192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737360"/>
            <a:ext cx="265176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8745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Microsoft YaHei"/>
              </a:rPr>
              <a:t>HMM Bear Filter
HMM熊市过滤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4B4"/>
                </a:solidFill>
                <a:latin typeface="Calibri"/>
              </a:rPr>
              <a:t>Bear probability &gt;60% → alert
Bear state → immediate exit
bear state直接出场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2651760" cy="3291840"/>
          </a:xfrm>
          <a:prstGeom prst="rect">
            <a:avLst/>
          </a:prstGeom>
          <a:solidFill>
            <a:srgbClr val="161923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265176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Microsoft YaHei"/>
              </a:rPr>
              <a:t>Position Sizing
仓位管理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4B4"/>
                </a:solidFill>
                <a:latin typeface="Calibri"/>
              </a:rPr>
              <a:t>Signal score → position weight
40% – 100% capital allocation
信号分数驱动仓位比例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737360"/>
            <a:ext cx="2651760" cy="3291840"/>
          </a:xfrm>
          <a:prstGeom prst="rect">
            <a:avLst/>
          </a:prstGeom>
          <a:solidFill>
            <a:srgbClr val="161923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737360"/>
            <a:ext cx="26517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18745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  <a:latin typeface="Microsoft YaHei"/>
              </a:rPr>
              <a:t>Regime Reduce
状态缩减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4B4"/>
                </a:solidFill>
                <a:latin typeface="Calibri"/>
              </a:rPr>
              <a:t>Consecutive bear signals:
100% → 50% → 25%
连续bear信号逐步减仓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Walk-Forward Backtesting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滚动验证回测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60% training / 40% rolling test window  |  60%训练窗口，40%滚动测试</a:t>
            </a:r>
          </a:p>
          <a:p>
            <a:pPr algn="l">
              <a:spcBef>
                <a:spcPts val="20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No look-ahead bias — each signal uses only past data  |  零未来函数</a:t>
            </a:r>
          </a:p>
          <a:p>
            <a:pPr algn="l">
              <a:spcBef>
                <a:spcPts val="20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Subsample validation: 2016–2020 / 2021–2023 / 2024–2026 all positive  |  三段子样本全部正收益</a:t>
            </a:r>
          </a:p>
          <a:p>
            <a:pPr algn="l">
              <a:spcBef>
                <a:spcPts val="2000"/>
              </a:spcBef>
            </a:pPr>
            <a:r>
              <a:rPr sz="1700">
                <a:solidFill>
                  <a:srgbClr val="FFD740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10-year backtest: 2016–2026  |  10年全样本回测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29200"/>
            <a:ext cx="2825180" cy="41148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491480"/>
            <a:ext cx="28251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740"/>
                </a:solidFill>
                <a:latin typeface="Calibri"/>
              </a:rPr>
              <a:t>Training 2016–2019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48140" y="5029200"/>
            <a:ext cx="1412590" cy="4114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48140" y="5491480"/>
            <a:ext cx="14125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A5FA"/>
                </a:solidFill>
                <a:latin typeface="Calibri"/>
              </a:rPr>
              <a:t>Val 2020–2021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60731" y="5029200"/>
            <a:ext cx="2825180" cy="41148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60731" y="5491480"/>
            <a:ext cx="28251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740"/>
                </a:solidFill>
                <a:latin typeface="Calibri"/>
              </a:rPr>
              <a:t>Training 2020–2022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5911" y="5029200"/>
            <a:ext cx="1412590" cy="411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5911" y="5491480"/>
            <a:ext cx="14125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E676"/>
                </a:solidFill>
                <a:latin typeface="Calibri"/>
              </a:rPr>
              <a:t>Val 2023–2024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8502" y="5029200"/>
            <a:ext cx="1765737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8502" y="5491480"/>
            <a:ext cx="176573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78BFA"/>
                </a:solidFill>
                <a:latin typeface="Calibri"/>
              </a:rPr>
              <a:t>OOS 2024–2026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D740"/>
                </a:solidFill>
              </a:rPr>
              <a:t>Strategy Validation &amp; Risk Disclosure</a:t>
            </a:r>
          </a:p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B4B4B4"/>
                </a:solidFill>
              </a:rPr>
              <a:t>策略验证与风险说明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5200000" cy="3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40"/>
                </a:solidFill>
              </a:rPr>
              <a:t>✅  已解决的三个关键问题（Issues Resolved）</a:t>
            </a:r>
          </a:p>
          <a:p>
            <a:pPr algn="l">
              <a:spcBef>
                <a:spcPts val="0"/>
              </a:spcBef>
            </a:pPr>
            <a:endParaRPr sz="1300" b="1" i="0">
              <a:solidFill>
                <a:srgbClr val="FFD740"/>
              </a:solidFill>
            </a:endParaRP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A8E6A3"/>
                </a:solidFill>
              </a:rPr>
              <a:t>◆  模型稳定性 / Model Stability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早期每次训练结果差异达4倍。改为5种随机种子取最优 log-likelihood 模型，结果现已完全可复现。</a:t>
            </a:r>
          </a:p>
          <a:p>
            <a:pPr algn="l">
              <a:spcBef>
                <a:spcPts val="100"/>
              </a:spcBef>
            </a:pPr>
            <a:r>
              <a:rPr sz="950" b="0" i="1">
                <a:solidFill>
                  <a:srgbClr val="B4B4B4"/>
                </a:solidFill>
              </a:rPr>
              <a:t>Previously results varied 4× across runs. Now using best of 5 seeds by log-likelihood — fully reproducible.</a:t>
            </a:r>
          </a:p>
          <a:p>
            <a:pPr algn="l">
              <a:spcBef>
                <a:spcPts val="0"/>
              </a:spcBef>
            </a:pPr>
            <a:endParaRPr sz="950" b="0" i="1">
              <a:solidFill>
                <a:srgbClr val="B4B4B4"/>
              </a:solidFill>
            </a:endParaRP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A8E6A3"/>
                </a:solidFill>
              </a:rPr>
              <a:t>◆  样本量 / Sample Size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将历史从2016年拉长至2007年，覆盖2008金融危机、2011黄金牛市、2020疫情冲击。Gold交易笔数从16笔增至25笔，AAPL从38笔增至51笔。</a:t>
            </a:r>
          </a:p>
          <a:p>
            <a:pPr algn="l">
              <a:spcBef>
                <a:spcPts val="100"/>
              </a:spcBef>
            </a:pPr>
            <a:r>
              <a:rPr sz="950" b="0" i="1">
                <a:solidFill>
                  <a:srgbClr val="B4B4B4"/>
                </a:solidFill>
              </a:rPr>
              <a:t>Extended history from 2016 to 2007, covering 2008 GFC, 2011 Gold bull, 2020 COVID crash. Gold trades: 16→25, AAPL: 38→51.</a:t>
            </a:r>
          </a:p>
          <a:p>
            <a:pPr algn="l">
              <a:spcBef>
                <a:spcPts val="0"/>
              </a:spcBef>
            </a:pPr>
            <a:endParaRPr sz="950" b="0" i="1">
              <a:solidFill>
                <a:srgbClr val="B4B4B4"/>
              </a:solidFill>
            </a:endParaRP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A8E6A3"/>
                </a:solidFill>
              </a:rPr>
              <a:t>◆  参数验证 / Parameter Validation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三段子样本验证（2007-2012 / 2013-2018 / 2019-2026），AAPL与Gold三段全部正收益，参数无过拟合。Silver早期两段表现弱，已如实说明。</a:t>
            </a:r>
          </a:p>
          <a:p>
            <a:pPr algn="l">
              <a:spcBef>
                <a:spcPts val="100"/>
              </a:spcBef>
            </a:pPr>
            <a:r>
              <a:rPr sz="950" b="0" i="1">
                <a:solidFill>
                  <a:srgbClr val="B4B4B4"/>
                </a:solidFill>
              </a:rPr>
              <a:t>3-period subsample test: AAPL &amp; Gold positive in all 3 periods — no overfitting. Silver underperformed in early periods, disclosed transparently.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0000" y="1600000"/>
            <a:ext cx="5230000" cy="3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40"/>
                </a:solidFill>
              </a:rPr>
              <a:t>⚠️  待改进项（Pending Improvement）</a:t>
            </a:r>
          </a:p>
          <a:p>
            <a:pPr algn="l">
              <a:spcBef>
                <a:spcPts val="0"/>
              </a:spcBef>
            </a:pPr>
            <a:endParaRPr sz="1300" b="1" i="0">
              <a:solidFill>
                <a:srgbClr val="FFD740"/>
              </a:solidFill>
            </a:endParaRP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FFD08A"/>
                </a:solidFill>
              </a:rPr>
              <a:t>◆  实盘摩擦 / Live Trading Friction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</a:rPr>
              <a:t>当前模型按0.1%/每边统一建模，未包含期货展期成本与隔夜资金成本，实盘收益预计低于回测约10-20%。</a:t>
            </a:r>
          </a:p>
          <a:p>
            <a:pPr algn="l">
              <a:spcBef>
                <a:spcPts val="100"/>
              </a:spcBef>
            </a:pPr>
            <a:r>
              <a:rPr sz="950" b="0" i="1">
                <a:solidFill>
                  <a:srgbClr val="B4B4B4"/>
                </a:solidFill>
              </a:rPr>
              <a:t>Current model uses 0.1%/side uniform friction. Futures rollover costs and overnight funding not yet modeled — live returns estimated 10-20% below backtest.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0000" y="1600000"/>
            <a:ext cx="12700" cy="33500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1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6464"/>
                </a:solidFill>
              </a:rPr>
              <a:t>All backtests use walk-forward methodology with no look-ahead bias. Past performance does not guarantee future results.</a:t>
            </a:r>
          </a:p>
          <a:p>
            <a:pPr algn="l">
              <a:spcBef>
                <a:spcPts val="100"/>
              </a:spcBef>
            </a:pPr>
            <a:r>
              <a:rPr sz="800" b="0" i="1">
                <a:solidFill>
                  <a:srgbClr val="646464"/>
                </a:solidFill>
              </a:rPr>
              <a:t>所有回测采用滚动验证，无未来函数。历史表现不代表未来收益。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50000"/>
            <a:ext cx="11064240" cy="635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Fully Automated Pipeline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全自动化流程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468880" cy="2560320"/>
          </a:xfrm>
          <a:prstGeom prst="rect">
            <a:avLst/>
          </a:prstGeom>
          <a:solidFill>
            <a:srgbClr val="161923"/>
          </a:solidFill>
          <a:ln w="254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40"/>
                </a:solidFill>
                <a:latin typeface="Calibri"/>
              </a:rPr>
              <a:t>17:00 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Daily Close triggers
signal_generator.py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9534" y="3108960"/>
            <a:ext cx="3703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D74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011680"/>
            <a:ext cx="2468880" cy="2560320"/>
          </a:xfrm>
          <a:prstGeom prst="rect">
            <a:avLst/>
          </a:prstGeom>
          <a:solidFill>
            <a:srgbClr val="161923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0A5FA"/>
                </a:solidFill>
                <a:latin typeface="Calibri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889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HMM model inference
+ 14-signal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9894" y="3108960"/>
            <a:ext cx="3703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D74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2468880" cy="2560320"/>
          </a:xfrm>
          <a:prstGeom prst="rect">
            <a:avLst/>
          </a:prstGeom>
          <a:solidFill>
            <a:srgbClr val="16192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676"/>
                </a:solidFill>
                <a:latin typeface="Calibri"/>
              </a:rPr>
              <a:t>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889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monitor.py sends
email on ENTER/EXIT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254" y="3108960"/>
            <a:ext cx="3703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D74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2011680"/>
            <a:ext cx="2468880" cy="2560320"/>
          </a:xfrm>
          <a:prstGeom prst="rect">
            <a:avLst/>
          </a:prstGeom>
          <a:solidFill>
            <a:srgbClr val="161923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2148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78BFA"/>
                </a:solidFill>
                <a:latin typeface="Calibr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889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hmm-trading.streamlit.app
updates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B4B4"/>
                </a:solidFill>
                <a:latin typeface="Calibri"/>
              </a:rPr>
              <a:t>Zero manual intervention required  /  零人工干预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Real-Time Dashboard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实时监控面板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2103120" cy="2926080"/>
          </a:xfrm>
          <a:prstGeom prst="rect">
            <a:avLst/>
          </a:prstGeom>
          <a:solidFill>
            <a:srgbClr val="161923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103120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40"/>
                </a:solidFill>
                <a:latin typeface="Microsoft YaHei"/>
              </a:rPr>
              <a:t>Today's Signals
今日信号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4B4B4"/>
                </a:solidFill>
                <a:latin typeface="Calibri"/>
              </a:rPr>
              <a:t>Daily action recommendations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2103120" cy="292608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4640" y="1828800"/>
            <a:ext cx="210312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9659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Microsoft YaHei"/>
              </a:rPr>
              <a:t>Portfolio
组合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4B4B4"/>
                </a:solidFill>
                <a:latin typeface="Calibri"/>
              </a:rPr>
              <a:t>Equal-weight portfolio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828800"/>
            <a:ext cx="2103120" cy="2926080"/>
          </a:xfrm>
          <a:prstGeom prst="rect">
            <a:avLst/>
          </a:prstGeom>
          <a:solidFill>
            <a:srgbClr val="161923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66360" y="1828800"/>
            <a:ext cx="2103120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9659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40"/>
                </a:solidFill>
                <a:latin typeface="Microsoft YaHei"/>
              </a:rPr>
              <a:t>Gold
黄金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4B4B4"/>
                </a:solidFill>
                <a:latin typeface="Calibri"/>
              </a:rPr>
              <a:t>Per-asset deep dive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828800"/>
            <a:ext cx="2103120" cy="2926080"/>
          </a:xfrm>
          <a:prstGeom prst="rect">
            <a:avLst/>
          </a:prstGeom>
          <a:solidFill>
            <a:srgbClr val="161923"/>
          </a:solidFill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0" y="1828800"/>
            <a:ext cx="2103120" cy="508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19659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4B4B4"/>
                </a:solidFill>
                <a:latin typeface="Microsoft YaHei"/>
              </a:rPr>
              <a:t>Silver
白银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4B4B4"/>
                </a:solidFill>
                <a:latin typeface="Calibri"/>
              </a:rPr>
              <a:t>Per-asset deep dive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828800"/>
            <a:ext cx="2103120" cy="292608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29800" y="1828800"/>
            <a:ext cx="210312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19659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Microsoft YaHei"/>
              </a:rPr>
              <a:t>AAPL
苹果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4B4B4"/>
                </a:solidFill>
                <a:latin typeface="Calibri"/>
              </a:rPr>
              <a:t>Per-asset deep dive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A5FA"/>
                </a:solidFill>
                <a:latin typeface="Calibri"/>
              </a:rPr>
              <a:t>http://hmm-trading.streamlit.app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Why This System Wins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核心竞争优势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377440" cy="713232"/>
          </a:xfrm>
          <a:prstGeom prst="rect">
            <a:avLst/>
          </a:prstGeom>
          <a:solidFill>
            <a:srgbClr val="161923"/>
          </a:solidFill>
          <a:ln w="12700"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1691640"/>
            <a:ext cx="2651760" cy="713232"/>
          </a:xfrm>
          <a:prstGeom prst="rect">
            <a:avLst/>
          </a:prstGeom>
          <a:solidFill>
            <a:srgbClr val="FFD740"/>
          </a:solidFill>
          <a:ln w="12700"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117"/>
                </a:solidFill>
                <a:latin typeface="Calibri"/>
              </a:rPr>
              <a:t>HMM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691640"/>
            <a:ext cx="2834640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783080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117"/>
                </a:solidFill>
                <a:latin typeface="Calibri"/>
              </a:rPr>
              <a:t>Traditional Quant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691640"/>
            <a:ext cx="2651760" cy="713232"/>
          </a:xfrm>
          <a:prstGeom prst="rect">
            <a:avLst/>
          </a:prstGeom>
          <a:solidFill>
            <a:srgbClr val="B4B4B4"/>
          </a:solidFill>
          <a:ln w="12700"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783080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117"/>
                </a:solidFill>
                <a:latin typeface="Calibri"/>
              </a:rPr>
              <a:t>Buy &amp; 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04872"/>
            <a:ext cx="2377440" cy="713232"/>
          </a:xfrm>
          <a:prstGeom prst="rect">
            <a:avLst/>
          </a:prstGeom>
          <a:solidFill>
            <a:srgbClr val="161923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496312"/>
            <a:ext cx="2194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B4B4"/>
                </a:solidFill>
                <a:latin typeface="Microsoft YaHei"/>
              </a:rPr>
              <a:t>Regime Awareness
状态感知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404872"/>
            <a:ext cx="2651760" cy="713232"/>
          </a:xfrm>
          <a:prstGeom prst="rect">
            <a:avLst/>
          </a:prstGeom>
          <a:solidFill>
            <a:srgbClr val="161923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2496312"/>
            <a:ext cx="2468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676"/>
                </a:solidFill>
                <a:latin typeface="Microsoft YaHei"/>
              </a:rPr>
              <a:t>✅ 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404872"/>
            <a:ext cx="2834640" cy="713232"/>
          </a:xfrm>
          <a:prstGeom prst="rect">
            <a:avLst/>
          </a:prstGeom>
          <a:solidFill>
            <a:srgbClr val="161923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2496312"/>
            <a:ext cx="2651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❌ 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404872"/>
            <a:ext cx="2651760" cy="713232"/>
          </a:xfrm>
          <a:prstGeom prst="rect">
            <a:avLst/>
          </a:prstGeom>
          <a:solidFill>
            <a:srgbClr val="161923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496312"/>
            <a:ext cx="2468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❌ 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18104"/>
            <a:ext cx="2377440" cy="713232"/>
          </a:xfrm>
          <a:prstGeom prst="rect">
            <a:avLst/>
          </a:prstGeom>
          <a:solidFill>
            <a:srgbClr val="141620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209544"/>
            <a:ext cx="2194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B4B4"/>
                </a:solidFill>
                <a:latin typeface="Microsoft YaHei"/>
              </a:rPr>
              <a:t>Max Drawdown
最大回撤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118104"/>
            <a:ext cx="2651760" cy="713232"/>
          </a:xfrm>
          <a:prstGeom prst="rect">
            <a:avLst/>
          </a:prstGeom>
          <a:solidFill>
            <a:srgbClr val="141620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0" y="3209544"/>
            <a:ext cx="2468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40"/>
                </a:solidFill>
                <a:latin typeface="Microsoft YaHei"/>
              </a:rPr>
              <a:t>-9.9%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3118104"/>
            <a:ext cx="2834640" cy="713232"/>
          </a:xfrm>
          <a:prstGeom prst="rect">
            <a:avLst/>
          </a:prstGeom>
          <a:solidFill>
            <a:srgbClr val="141620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0" y="3209544"/>
            <a:ext cx="2651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-20~40%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3118104"/>
            <a:ext cx="2651760" cy="713232"/>
          </a:xfrm>
          <a:prstGeom prst="rect">
            <a:avLst/>
          </a:prstGeom>
          <a:solidFill>
            <a:srgbClr val="141620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3209544"/>
            <a:ext cx="2468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-30~50%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31336"/>
            <a:ext cx="2377440" cy="713232"/>
          </a:xfrm>
          <a:prstGeom prst="rect">
            <a:avLst/>
          </a:prstGeom>
          <a:solidFill>
            <a:srgbClr val="161923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922776"/>
            <a:ext cx="2194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B4B4"/>
                </a:solidFill>
                <a:latin typeface="Microsoft YaHei"/>
              </a:rPr>
              <a:t>Automation
自动化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3831336"/>
            <a:ext cx="2651760" cy="713232"/>
          </a:xfrm>
          <a:prstGeom prst="rect">
            <a:avLst/>
          </a:prstGeom>
          <a:solidFill>
            <a:srgbClr val="161923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17520" y="3922776"/>
            <a:ext cx="2468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676"/>
                </a:solidFill>
                <a:latin typeface="Microsoft YaHei"/>
              </a:rPr>
              <a:t>✅ Full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831336"/>
            <a:ext cx="2834640" cy="713232"/>
          </a:xfrm>
          <a:prstGeom prst="rect">
            <a:avLst/>
          </a:prstGeom>
          <a:solidFill>
            <a:srgbClr val="161923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3922776"/>
            <a:ext cx="2651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Partial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3831336"/>
            <a:ext cx="2651760" cy="713232"/>
          </a:xfrm>
          <a:prstGeom prst="rect">
            <a:avLst/>
          </a:prstGeom>
          <a:solidFill>
            <a:srgbClr val="161923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20" y="3922776"/>
            <a:ext cx="2468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✅ Passive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544568"/>
            <a:ext cx="2377440" cy="713232"/>
          </a:xfrm>
          <a:prstGeom prst="rect">
            <a:avLst/>
          </a:prstGeom>
          <a:solidFill>
            <a:srgbClr val="141620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636008"/>
            <a:ext cx="2194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B4B4"/>
                </a:solidFill>
                <a:latin typeface="Microsoft YaHei"/>
              </a:rPr>
              <a:t>Sharpe Ratio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4544568"/>
            <a:ext cx="2651760" cy="713232"/>
          </a:xfrm>
          <a:prstGeom prst="rect">
            <a:avLst/>
          </a:prstGeom>
          <a:solidFill>
            <a:srgbClr val="141620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17520" y="4636008"/>
            <a:ext cx="2468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40"/>
                </a:solidFill>
                <a:latin typeface="Microsoft YaHei"/>
              </a:rPr>
              <a:t>1.35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4544568"/>
            <a:ext cx="2834640" cy="713232"/>
          </a:xfrm>
          <a:prstGeom prst="rect">
            <a:avLst/>
          </a:prstGeom>
          <a:solidFill>
            <a:srgbClr val="141620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0" y="4636008"/>
            <a:ext cx="2651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0.5~1.0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544568"/>
            <a:ext cx="2651760" cy="713232"/>
          </a:xfrm>
          <a:prstGeom prst="rect">
            <a:avLst/>
          </a:prstGeom>
          <a:solidFill>
            <a:srgbClr val="141620"/>
          </a:solidFill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03920" y="4636008"/>
            <a:ext cx="2468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0.4~0.7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Next Steps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下一步计划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606040" cy="3200400"/>
          </a:xfrm>
          <a:prstGeom prst="rect">
            <a:avLst/>
          </a:prstGeom>
          <a:solidFill>
            <a:srgbClr val="161923"/>
          </a:solidFill>
          <a:ln w="254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06040" cy="635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740"/>
                </a:solidFill>
                <a:latin typeface="Calibri"/>
              </a:rPr>
              <a:t>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Live trading via IBKR API
IBKR API实盘对接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606040" cy="3200400"/>
          </a:xfrm>
          <a:prstGeom prst="rect">
            <a:avLst/>
          </a:prstGeom>
          <a:solidFill>
            <a:srgbClr val="161923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606040" cy="635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96596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0A5FA"/>
                </a:solidFill>
                <a:latin typeface="Calibri"/>
              </a:rP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4320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Asset universe expansion
(ETFs, Crypto)
资产池扩展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606040" cy="3200400"/>
          </a:xfrm>
          <a:prstGeom prst="rect">
            <a:avLst/>
          </a:prstGeom>
          <a:solidFill>
            <a:srgbClr val="161923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606040" cy="635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96596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4320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NLP sentiment layer
from news data
新闻情绪因子接入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828800"/>
            <a:ext cx="2606040" cy="3200400"/>
          </a:xfrm>
          <a:prstGeom prst="rect">
            <a:avLst/>
          </a:prstGeom>
          <a:solidFill>
            <a:srgbClr val="161923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1828800"/>
            <a:ext cx="2606040" cy="63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96596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78BFA"/>
                </a:solidFill>
                <a:latin typeface="Calibri"/>
              </a:rPr>
              <a:t>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74320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Multi-strategy ensemble
多策略组合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NVIDIA Corp. Strategy Performance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NVIDIA 策略表现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+397%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Total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16.9%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Annual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Sharpe 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1479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2919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-21.6%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2919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Max Drawdown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1447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2887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58.1%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2887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Win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1415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02855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2.66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2855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Profit Factor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Calibri"/>
              </a:rPr>
              <a:t>NVDA B&amp;H: +27413%  |  Strategy focuses on risk control, not trend-chasing  /  策略侧重风控而非追涨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40"/>
                </a:solidFill>
                <a:latin typeface="Calibri"/>
              </a:rPr>
              <a:t>Meta Platforms Strategy Performance</a:t>
            </a:r>
          </a:p>
          <a:p>
            <a:pPr algn="l"/>
            <a:r>
              <a:rPr sz="1600" b="0">
                <a:solidFill>
                  <a:srgbClr val="B4B4B4"/>
                </a:solidFill>
                <a:latin typeface="Microsoft YaHei"/>
              </a:rPr>
              <a:t>Meta 策略表现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5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+149%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Total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Annual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691640"/>
            <a:ext cx="3474720" cy="1463040"/>
          </a:xfrm>
          <a:prstGeom prst="rect">
            <a:avLst/>
          </a:prstGeom>
          <a:solidFill>
            <a:srgbClr val="161923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Calibri"/>
              </a:rPr>
              <a:t>0.65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B4B4"/>
                </a:solidFill>
                <a:latin typeface="Calibri"/>
              </a:rPr>
              <a:t>Sharpe 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1479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2919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-23.0%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2919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Max Drawdown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1447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2887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60.4%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2887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Win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1415" y="3429000"/>
            <a:ext cx="1828800" cy="1188720"/>
          </a:xfrm>
          <a:prstGeom prst="rect">
            <a:avLst/>
          </a:prstGeom>
          <a:solidFill>
            <a:srgbClr val="161923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02855" y="34747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1.89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2855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4B4B4"/>
                </a:solidFill>
                <a:latin typeface="Calibri"/>
              </a:rPr>
              <a:t>Profit Factor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Calibri"/>
              </a:rPr>
              <a:t>META B&amp;H: +589%  |  Strategy focuses on risk control, not trend-chasing  /  策略侧重风控而非追涨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18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6200" cy="50292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D740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3657600" cy="2540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LILYN AI Quant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101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4B4"/>
                </a:solidFill>
                <a:latin typeface="Calibri"/>
              </a:rPr>
              <a:t>Contact:  anselwilliam789@gmail.com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856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A5FA"/>
                </a:solidFill>
                <a:latin typeface="Calibri"/>
              </a:rPr>
              <a:t>Dashboard:  hmm-trading.streamlit.app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11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4B4"/>
                </a:solidFill>
                <a:latin typeface="Calibri"/>
              </a:rPr>
              <a:t>GitHub:  github.com/Anselzwx/hmm-trading-strategy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icrosoft YaHei"/>
              </a:rPr>
              <a:t>Past performance does not guarantee future results. For research purposes only.
历史表现不代表未来收益，仅供研究参考。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1137</Words>
  <Application>Microsoft Macintosh PowerPoint</Application>
  <PresentationFormat>Widescreen</PresentationFormat>
  <Paragraphs>257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Wenxuan Zhao</cp:lastModifiedBy>
  <cp:revision>2</cp:revision>
  <dcterms:created xsi:type="dcterms:W3CDTF">2013-01-27T09:14:16Z</dcterms:created>
  <dcterms:modified xsi:type="dcterms:W3CDTF">2026-04-28T03:31:19Z</dcterms:modified>
  <cp:category/>
</cp:coreProperties>
</file>