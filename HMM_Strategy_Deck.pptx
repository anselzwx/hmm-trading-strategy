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754880"/>
            <a:ext cx="3200400" cy="3200400"/>
          </a:xfrm>
          <a:prstGeom prst="ellipse">
            <a:avLst/>
          </a:prstGeom>
          <a:solidFill>
            <a:srgbClr val="00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1F5F9"/>
                </a:solidFill>
              </a:rPr>
              <a:t>HMM REGIME-BASED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C86E"/>
                </a:solidFill>
              </a:rPr>
              <a:t>TRADING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37560"/>
            <a:ext cx="1097280" cy="36576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</a:rPr>
              <a:t>Phase 1 策略汇报  ·  AAPL · Gold · Silver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数据截至 2026-04-16  ·  Walk-Forward · 14-Signal Voting · 2.5× Leverage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01  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我们在做什么？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097280" cy="36576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60320" cy="34747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HMM 状态识别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用机器学习自动识别
牛市 / 熊市 / 震荡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920240"/>
            <a:ext cx="2560320" cy="34747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788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14 信号投票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3832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多重技术指标确认
降低假信号率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20240"/>
            <a:ext cx="2560320" cy="34747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88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量化风控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832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固定止损 + 仓位管理
+ 冷静期保护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920240"/>
            <a:ext cx="2560320" cy="347472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788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Walk-Forward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3832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滚动训练消除
数据泄露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核心问题：只在"天时地利人和"均满足时入场，能否跑赢买入持有？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02  HMM 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市场状态自动识别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097280" cy="36576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三个训练特征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5120640" cy="82296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对数收益率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ln(Close_t / Close_{t-1}) ×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A5FA"/>
                </a:solidFill>
              </a:rPr>
              <a:t>衡量涨跌幅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5120640" cy="82296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价格区间比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(High - Low) / Close ×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A5FA"/>
                </a:solidFill>
              </a:rPr>
              <a:t>衡量波动强度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5120640" cy="82296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成交量波动率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rolling std(log Vol, 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572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A5FA"/>
                </a:solidFill>
              </a:rPr>
              <a:t>反映市场情绪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7 个状态的标记规则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377440"/>
            <a:ext cx="164592" cy="64008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1968" y="2377440"/>
            <a:ext cx="5029200" cy="64008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Bull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724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收益率最高 → 强牛市入场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37560"/>
            <a:ext cx="164592" cy="640080"/>
          </a:xfrm>
          <a:prstGeom prst="rect">
            <a:avLst/>
          </a:prstGeom>
          <a:solidFill>
            <a:srgbClr val="008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01968" y="3337560"/>
            <a:ext cx="5029200" cy="64008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Bull+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次高收益率 → 次级牛市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297680"/>
            <a:ext cx="164592" cy="64008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1968" y="4297680"/>
            <a:ext cx="5029200" cy="64008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Bear/Crash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645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收益率最低 → 立即出场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257800"/>
            <a:ext cx="164592" cy="64008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01968" y="5257800"/>
            <a:ext cx="5029200" cy="64008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Neutral ×4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605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其余状态 → 观望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03  Walk-Forward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消除数据泄露，让回测可信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097280" cy="36576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120640" cy="2194560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252"/>
                </a:solidFill>
              </a:rPr>
              <a:t>❌  旧版（有缺陷）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用全量数据训练 HMM
再用同一段数据回测
= 考前把答案给了模型
= Look-ahead Bias（数据泄露）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5120640" cy="2194560"/>
          </a:xfrm>
          <a:prstGeom prst="rect">
            <a:avLst/>
          </a:prstGeom>
          <a:solidFill>
            <a:srgbClr val="0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E"/>
                </a:solidFill>
              </a:rPr>
              <a:t>✅  新版（Walk-Forward）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前 60% 训练 → 预测后面
每 10% 滚动重新训练
每个预测点只用历史数据
= 真实部署环境的结果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72000"/>
            <a:ext cx="2011680" cy="64008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4617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</a:rPr>
              <a:t>历史数据 60%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4572000"/>
            <a:ext cx="2011680" cy="64008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4617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</a:rPr>
              <a:t>→ 训练 HMM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4572000"/>
            <a:ext cx="2011680" cy="64008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4617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</a:rPr>
              <a:t>→ 预测下一段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4572000"/>
            <a:ext cx="2011680" cy="64008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4617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</a:rPr>
              <a:t>→ 滚动前进 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4572000"/>
            <a:ext cx="2011680" cy="64008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4617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</a:rPr>
              <a:t>→ 重复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结果：每一笔交易的预测，模型从未见过未来的数据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04  14 信号投票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双重过滤，降低假信号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097280" cy="36576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HMM 判定牛市  +  14 项指标满足 ≥ 9 项  →  入场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2560320" cy="4023360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趋势类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926080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Price &gt; EMA50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639312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850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Price &gt; EMA200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352544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9826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ADX &gt; 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065776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114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MACD &gt; Signal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331720"/>
            <a:ext cx="2560320" cy="402336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动量类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2926080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RSI &lt; 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3639312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36850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Momentum &gt; 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4352544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439826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Stoch %K ↑ &amp; &lt; 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5065776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51114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Williams %R &lt; -20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331720"/>
            <a:ext cx="2560320" cy="4023360"/>
          </a:xfrm>
          <a:prstGeom prst="rect">
            <a:avLst/>
          </a:prstGeom>
          <a:solidFill>
            <a:srgbClr val="1A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量价类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2926080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Volume &gt; SMA20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3639312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6850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OBV &gt; OBV EMA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4352544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39826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CCI &gt;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5065776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51114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Price &gt; BB 中轨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2331720"/>
            <a:ext cx="2560320" cy="4023360"/>
          </a:xfrm>
          <a:prstGeom prst="rect">
            <a:avLst/>
          </a:prstGeom>
          <a:solidFill>
            <a:srgbClr val="20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风险类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72600" y="2926080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404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Volatility &lt; 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2600" y="3639312"/>
            <a:ext cx="2286000" cy="548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64040" y="36850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● 距高点回撤 &lt; 30%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门槛：9 / 14 → 40% 仓位　　12 / 14 → 70%　　14 / 14 → 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05  风险管理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三重保护机制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097280" cy="36576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303520" cy="192024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09728" cy="192024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57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固定止损 -8%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42032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任何一笔仓位亏损超过 8%
立即出场，不等 HMM 反应
防止单笔大额亏损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920240"/>
            <a:ext cx="5303520" cy="192024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109728" cy="192024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57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057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状态止损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42032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HMM 检测到 Bear/Crash 状态
立即平仓，不设任何延迟
跟随市场节奏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5303520" cy="192024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109728" cy="192024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343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冷静期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828031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出场后强制等待 48 小时
(日线资产 2 个交易日)
避免情绪化反复进出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06240"/>
            <a:ext cx="5303520" cy="192024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206240"/>
            <a:ext cx="109728" cy="192024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343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343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仓位管理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828031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信号强度决定仓位大小
9/14 → 40%
14/14 →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杠杆 2.5×  ·  最长持仓 30天(1h) / 60日(日线)  ·  以上保护机制同时生效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06  回测结果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数据截至 2026-04-16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097280" cy="36576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566160" cy="4114800"/>
          </a:xfrm>
          <a:prstGeom prst="rect">
            <a:avLst/>
          </a:prstGeom>
          <a:solidFill>
            <a:srgbClr val="00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</a:rPr>
              <a:t>🍎 AAPL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总收益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443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6E"/>
                </a:solidFill>
              </a:rPr>
              <a:t>+11.9%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夏普比率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216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6E"/>
                </a:solidFill>
              </a:rPr>
              <a:t>1.04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最大回撤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252"/>
                </a:solidFill>
              </a:rPr>
              <a:t>-12.1%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交易笔数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760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38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828800"/>
            <a:ext cx="3566160" cy="4114800"/>
          </a:xfrm>
          <a:prstGeom prst="rect">
            <a:avLst/>
          </a:prstGeom>
          <a:solidFill>
            <a:srgbClr val="3D2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</a:rPr>
              <a:t>🥇 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总收益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9443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6E"/>
                </a:solidFill>
              </a:rPr>
              <a:t>+80.6%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夏普比率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7216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6E"/>
                </a:solidFill>
              </a:rPr>
              <a:t>1.51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最大回撤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498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252"/>
                </a:solidFill>
              </a:rPr>
              <a:t>-21.5%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983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交易笔数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2760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828800"/>
            <a:ext cx="356616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</a:rPr>
              <a:t>🥈 Silver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总收益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9443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6E"/>
                </a:solidFill>
              </a:rPr>
              <a:t>+80.7%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夏普比率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7216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40"/>
                </a:solidFill>
              </a:rPr>
              <a:t>0.64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最大回撤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498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5252"/>
                </a:solidFill>
              </a:rPr>
              <a:t>-46.9%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983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交易笔数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2760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0A5FA"/>
                </a:solidFill>
              </a:rPr>
              <a:t>Gold 综合最优 · AAPL 最稳健 · Silver 收益高但回撤风险大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07 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Phase 2 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097280" cy="36576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303520" cy="192024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6E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57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指标重要性分析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量化 14 个信号各自的预测贡献度
保留最有效的，去掉冗余的
让策略更精简、更可解释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5303520" cy="192024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6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57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跨资产相关性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78608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Gold 与 Silver 高度相关
研究是否应该错峰配置
避免重复承担相同风险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5303520" cy="192024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6E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43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与 SPY 对比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7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验证策略是否只在牛市有效
还是具备真实的 Alpha 来源
提升策略可信度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5303520" cy="192024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343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6E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343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参数优化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864607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对止损线 / 持仓上限 / 信号门槛
做网格搜索，找到最优组合
减少人为经验干预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00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1F5F9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46120"/>
            <a:ext cx="1097280" cy="36576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748B"/>
                </a:solidFill>
              </a:rPr>
              <a:t>仅供学习研究
不构成任何投资建议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📊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share.streamlit.io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📁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github.com/Anselzwx/hmm-trading-strategy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